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オーストラリア天気予測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5050"/>
                </a:solidFill>
              </a:defRPr>
            </a:pPr>
            <a:r>
              <a:t>明日の雨予測モデルの構築と比較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003366"/>
                </a:solidFill>
              </a:defRPr>
            </a:pPr>
            <a:r>
              <a:t>1. 課題概要</a:t>
            </a:r>
          </a:p>
          <a:p>
            <a:pPr>
              <a:spcAft>
                <a:spcPts val="1600"/>
              </a:spcAft>
              <a:defRPr sz="2600">
                <a:solidFill>
                  <a:srgbClr val="003366"/>
                </a:solidFill>
              </a:defRPr>
            </a:pPr>
            <a:r>
              <a:t>2. データ分析（EDA）</a:t>
            </a:r>
          </a:p>
          <a:p>
            <a:pPr>
              <a:spcAft>
                <a:spcPts val="1600"/>
              </a:spcAft>
              <a:defRPr sz="2600">
                <a:solidFill>
                  <a:srgbClr val="003366"/>
                </a:solidFill>
              </a:defRPr>
            </a:pPr>
            <a:r>
              <a:t>3. 前処理パイプライン</a:t>
            </a:r>
          </a:p>
          <a:p>
            <a:pPr>
              <a:spcAft>
                <a:spcPts val="1600"/>
              </a:spcAft>
              <a:defRPr sz="2600">
                <a:solidFill>
                  <a:srgbClr val="003366"/>
                </a:solidFill>
              </a:defRPr>
            </a:pPr>
            <a:r>
              <a:t>4. モデル実装</a:t>
            </a:r>
          </a:p>
          <a:p>
            <a:pPr>
              <a:spcAft>
                <a:spcPts val="1600"/>
              </a:spcAft>
              <a:defRPr sz="2600">
                <a:solidFill>
                  <a:srgbClr val="003366"/>
                </a:solidFill>
              </a:defRPr>
            </a:pPr>
            <a:r>
              <a:t>5. ハイパーパラメータチューニング</a:t>
            </a:r>
          </a:p>
          <a:p>
            <a:pPr>
              <a:spcAft>
                <a:spcPts val="1600"/>
              </a:spcAft>
              <a:defRPr sz="2600">
                <a:solidFill>
                  <a:srgbClr val="003366"/>
                </a:solidFill>
              </a:defRPr>
            </a:pPr>
            <a:r>
              <a:t>6. 実験結果</a:t>
            </a:r>
          </a:p>
          <a:p>
            <a:pPr>
              <a:spcAft>
                <a:spcPts val="1600"/>
              </a:spcAft>
              <a:defRPr sz="2600">
                <a:solidFill>
                  <a:srgbClr val="003366"/>
                </a:solidFill>
              </a:defRPr>
            </a:pPr>
            <a:r>
              <a:t>7. 考察</a:t>
            </a:r>
          </a:p>
          <a:p>
            <a:pPr>
              <a:spcAft>
                <a:spcPts val="1600"/>
              </a:spcAft>
              <a:defRPr sz="2600">
                <a:solidFill>
                  <a:srgbClr val="003366"/>
                </a:solidFill>
              </a:defRPr>
            </a:pPr>
            <a:r>
              <a:t>8. 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課題の背景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097280"/>
          </a:xfrm>
          <a:prstGeom prst="roundRect">
            <a:avLst/>
          </a:prstGeom>
          <a:solidFill>
            <a:srgbClr val="D9E2F3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目的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オーストラリアの気象データを用いて、明日が雨になるか否かを予測する2値分類モデルを構築する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データソース: Kaggle - Rain in Australia</a:t>
            </a:r>
          </a:p>
          <a:p>
            <a:pPr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期間: 2007年11月〜2017年6月（約10年分）</a:t>
            </a:r>
          </a:p>
          <a:p>
            <a:pPr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観測地点: オーストラリア全土49箇所</a:t>
            </a:r>
          </a:p>
          <a:p>
            <a:pPr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応用: 農業計画、イベント運営、交通管理など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データセット概要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基本情報</a:t>
            </a:r>
          </a:p>
          <a:p>
            <a:pPr>
              <a:spcAft>
                <a:spcPts val="400"/>
              </a:spcAft>
              <a:defRPr sz="1800"/>
            </a:pPr>
            <a:r>
              <a:t>• レコード数: 145,460件</a:t>
            </a:r>
          </a:p>
          <a:p>
            <a:pPr>
              <a:spcAft>
                <a:spcPts val="400"/>
              </a:spcAft>
              <a:defRPr sz="1800"/>
            </a:pPr>
            <a:r>
              <a:t>• 特徴量数: 23カラム</a:t>
            </a:r>
          </a:p>
          <a:p>
            <a:pPr>
              <a:spcAft>
                <a:spcPts val="400"/>
              </a:spcAft>
              <a:defRPr sz="1800"/>
            </a:pPr>
            <a:r>
              <a:t>• ターゲット: RainTomorrow (Yes/No)</a:t>
            </a:r>
          </a:p>
          <a:p/>
          <a:p>
            <a:pPr>
              <a:defRPr sz="2200" b="1">
                <a:solidFill>
                  <a:srgbClr val="003366"/>
                </a:solidFill>
              </a:defRPr>
            </a:pPr>
            <a:r>
              <a:t>クラス分布（不均衡）</a:t>
            </a:r>
          </a:p>
          <a:p>
            <a:pPr>
              <a:spcAft>
                <a:spcPts val="400"/>
              </a:spcAft>
              <a:defRPr sz="1800"/>
            </a:pPr>
            <a:r>
              <a:t>• No（雨なし）: 78%</a:t>
            </a:r>
          </a:p>
          <a:p>
            <a:pPr>
              <a:spcAft>
                <a:spcPts val="400"/>
              </a:spcAft>
              <a:defRPr sz="1800"/>
            </a:pPr>
            <a:r>
              <a:t>• Yes（雨あり）: 22%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371600"/>
            <a:ext cx="548640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3154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[画像未生成]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532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ターゲット変数の分布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特徴量の種類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数値変数（16個）</a:t>
            </a:r>
          </a:p>
          <a:p>
            <a:pPr>
              <a:spcAft>
                <a:spcPts val="400"/>
              </a:spcAft>
              <a:defRPr sz="1600"/>
            </a:pPr>
            <a:r>
              <a:t>• 気温: MinTemp, MaxTemp, Temp9am, Temp3pm</a:t>
            </a:r>
          </a:p>
          <a:p>
            <a:pPr>
              <a:spcAft>
                <a:spcPts val="400"/>
              </a:spcAft>
              <a:defRPr sz="1600"/>
            </a:pPr>
            <a:r>
              <a:t>• 降水: Rainfall, Evaporation</a:t>
            </a:r>
          </a:p>
          <a:p>
            <a:pPr>
              <a:spcAft>
                <a:spcPts val="400"/>
              </a:spcAft>
              <a:defRPr sz="1600"/>
            </a:pPr>
            <a:r>
              <a:t>• 日照: Sunshine</a:t>
            </a:r>
          </a:p>
          <a:p>
            <a:pPr>
              <a:spcAft>
                <a:spcPts val="400"/>
              </a:spcAft>
              <a:defRPr sz="1600"/>
            </a:pPr>
            <a:r>
              <a:t>• 風速: WindGustSpeed, WindSpeed9am/3pm</a:t>
            </a:r>
          </a:p>
          <a:p>
            <a:pPr>
              <a:spcAft>
                <a:spcPts val="400"/>
              </a:spcAft>
              <a:defRPr sz="1600"/>
            </a:pPr>
            <a:r>
              <a:t>• 湿度: Humidity9am/3pm</a:t>
            </a:r>
          </a:p>
          <a:p>
            <a:pPr>
              <a:spcAft>
                <a:spcPts val="400"/>
              </a:spcAft>
              <a:defRPr sz="1600"/>
            </a:pPr>
            <a:r>
              <a:t>• 気圧: Pressure9am/3pm</a:t>
            </a:r>
          </a:p>
          <a:p>
            <a:pPr>
              <a:spcAft>
                <a:spcPts val="400"/>
              </a:spcAft>
              <a:defRPr sz="1600"/>
            </a:pPr>
            <a:r>
              <a:t>• 雲量: Cloud9am/3pm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カテゴリ変数（6個）</a:t>
            </a:r>
          </a:p>
          <a:p>
            <a:pPr>
              <a:spcAft>
                <a:spcPts val="400"/>
              </a:spcAft>
              <a:defRPr sz="1600"/>
            </a:pPr>
            <a:r>
              <a:t>• Location: 49観測地点</a:t>
            </a:r>
          </a:p>
          <a:p>
            <a:pPr>
              <a:spcAft>
                <a:spcPts val="400"/>
              </a:spcAft>
              <a:defRPr sz="1600"/>
            </a:pPr>
            <a:r>
              <a:t>• WindGustDir: 突風方向（16方位）</a:t>
            </a:r>
          </a:p>
          <a:p>
            <a:pPr>
              <a:spcAft>
                <a:spcPts val="400"/>
              </a:spcAft>
              <a:defRPr sz="1600"/>
            </a:pPr>
            <a:r>
              <a:t>• WindDir9am: 9時の風向</a:t>
            </a:r>
          </a:p>
          <a:p>
            <a:pPr>
              <a:spcAft>
                <a:spcPts val="400"/>
              </a:spcAft>
              <a:defRPr sz="1600"/>
            </a:pPr>
            <a:r>
              <a:t>• WindDir3pm: 15時の風向</a:t>
            </a:r>
          </a:p>
          <a:p>
            <a:pPr>
              <a:spcAft>
                <a:spcPts val="400"/>
              </a:spcAft>
              <a:defRPr sz="1600"/>
            </a:pPr>
            <a:r>
              <a:t>• RainToday: 本日の雨（Yes/No）</a:t>
            </a:r>
          </a:p>
          <a:p>
            <a:pPr>
              <a:spcAft>
                <a:spcPts val="400"/>
              </a:spcAft>
              <a:defRPr sz="1600"/>
            </a:pPr>
            <a:r>
              <a:t>• RainTomorrow: ターゲット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欠損値の分析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高欠損率の変数</a:t>
            </a:r>
          </a:p>
          <a:p>
            <a:pPr>
              <a:spcAft>
                <a:spcPts val="400"/>
              </a:spcAft>
              <a:defRPr sz="1800"/>
            </a:pPr>
            <a:r>
              <a:t>• Sunshine: 48.0%</a:t>
            </a:r>
          </a:p>
          <a:p>
            <a:pPr>
              <a:spcAft>
                <a:spcPts val="400"/>
              </a:spcAft>
              <a:defRPr sz="1800"/>
            </a:pPr>
            <a:r>
              <a:t>• Evaporation: 43.2%</a:t>
            </a:r>
          </a:p>
          <a:p>
            <a:pPr>
              <a:spcAft>
                <a:spcPts val="400"/>
              </a:spcAft>
              <a:defRPr sz="1800"/>
            </a:pPr>
            <a:r>
              <a:t>• Cloud3pm: 40.8%</a:t>
            </a:r>
          </a:p>
          <a:p>
            <a:pPr>
              <a:spcAft>
                <a:spcPts val="400"/>
              </a:spcAft>
              <a:defRPr sz="1800"/>
            </a:pPr>
            <a:r>
              <a:t>• Cloud9am: 38.4%</a:t>
            </a:r>
          </a:p>
          <a:p/>
          <a:p>
            <a:pPr>
              <a:defRPr sz="2200" b="1">
                <a:solidFill>
                  <a:srgbClr val="003366"/>
                </a:solidFill>
              </a:defRPr>
            </a:pPr>
            <a:r>
              <a:t>対処方針</a:t>
            </a:r>
          </a:p>
          <a:p>
            <a:pPr>
              <a:spcAft>
                <a:spcPts val="400"/>
              </a:spcAft>
              <a:defRPr sz="1800"/>
            </a:pPr>
            <a:r>
              <a:t>• Location別の中央値で補完</a:t>
            </a:r>
          </a:p>
          <a:p>
            <a:pPr>
              <a:spcAft>
                <a:spcPts val="400"/>
              </a:spcAft>
              <a:defRPr sz="1800"/>
            </a:pPr>
            <a:r>
              <a:t>• カテゴリ変数は最頻値で補完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371600"/>
            <a:ext cx="548640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3154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[画像未生成]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532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欠損値ヒートマップ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データ分割（時系列）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097280"/>
          </a:xfrm>
          <a:prstGeom prst="roundRect">
            <a:avLst/>
          </a:prstGeom>
          <a:solidFill>
            <a:srgbClr val="D9E2F3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時系列分割の重要性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未来のデータで過去を予測することを防ぐため、時間順序を保持してデータを分割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74320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2860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データセット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期間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レコード数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割合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〜2015/06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約113,000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2015/07〜2016/06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約14,000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2016/07〜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約14,000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前処理の詳細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03366"/>
                </a:solidFill>
              </a:defRPr>
            </a:pPr>
            <a:r>
              <a:t>1. 欠損値処理</a:t>
            </a:r>
          </a:p>
          <a:p>
            <a:pPr>
              <a:spcAft>
                <a:spcPts val="200"/>
              </a:spcAft>
              <a:defRPr sz="1600"/>
            </a:pPr>
            <a:r>
              <a:t>  • 数値変数: Location別の中央値で補完</a:t>
            </a:r>
          </a:p>
          <a:p>
            <a:pPr>
              <a:spcAft>
                <a:spcPts val="200"/>
              </a:spcAft>
              <a:defRPr sz="1600"/>
            </a:pPr>
            <a:r>
              <a:t>  • カテゴリ変数: Location別の最頻値で補完</a:t>
            </a:r>
          </a:p>
          <a:p>
            <a:pPr>
              <a:spcAft>
                <a:spcPts val="200"/>
              </a:spcAft>
              <a:defRPr sz="1600"/>
            </a:pPr>
            <a:r>
              <a:t>  • RainTomorrow欠損行は削除</a:t>
            </a:r>
          </a:p>
          <a:p>
            <a:pPr>
              <a:spcBef>
                <a:spcPts val="1000"/>
              </a:spcBef>
              <a:defRPr sz="2200" b="1">
                <a:solidFill>
                  <a:srgbClr val="003366"/>
                </a:solidFill>
              </a:defRPr>
            </a:pPr>
            <a:r>
              <a:t>2. 特徴量エンコーディング</a:t>
            </a:r>
          </a:p>
          <a:p>
            <a:pPr>
              <a:spcAft>
                <a:spcPts val="200"/>
              </a:spcAft>
              <a:defRPr sz="1600"/>
            </a:pPr>
            <a:r>
              <a:t>  • 風向（16方位）: サイクリカルエンコーディング（sinθ, cosθ）</a:t>
            </a:r>
          </a:p>
          <a:p>
            <a:pPr>
              <a:spcAft>
                <a:spcPts val="200"/>
              </a:spcAft>
              <a:defRPr sz="1600"/>
            </a:pPr>
            <a:r>
              <a:t>  • RainToday: バイナリ（Yes=1, No=0）</a:t>
            </a:r>
          </a:p>
          <a:p>
            <a:pPr>
              <a:spcAft>
                <a:spcPts val="200"/>
              </a:spcAft>
              <a:defRPr sz="1600"/>
            </a:pPr>
            <a:r>
              <a:t>  • Location: ラベルエンコーディング</a:t>
            </a:r>
          </a:p>
          <a:p>
            <a:pPr>
              <a:spcBef>
                <a:spcPts val="1000"/>
              </a:spcBef>
              <a:defRPr sz="2200" b="1">
                <a:solidFill>
                  <a:srgbClr val="003366"/>
                </a:solidFill>
              </a:defRPr>
            </a:pPr>
            <a:r>
              <a:t>3. 標準化</a:t>
            </a:r>
          </a:p>
          <a:p>
            <a:pPr>
              <a:spcAft>
                <a:spcPts val="200"/>
              </a:spcAft>
              <a:defRPr sz="1600"/>
            </a:pPr>
            <a:r>
              <a:t>  • StandardScaler（平均0、標準偏差1）</a:t>
            </a:r>
          </a:p>
          <a:p>
            <a:pPr>
              <a:spcAft>
                <a:spcPts val="200"/>
              </a:spcAft>
              <a:defRPr sz="1600"/>
            </a:pPr>
            <a:r>
              <a:t>  • Trainデータで学習し、Val/Testに適用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使用モデル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003366"/>
                </a:solidFill>
              </a:defRPr>
            </a:pPr>
            <a:r>
              <a:t>1. ロジスティック回帰（PyTorch実装）</a:t>
            </a:r>
          </a:p>
          <a:p>
            <a:pPr>
              <a:spcAft>
                <a:spcPts val="400"/>
              </a:spcAft>
              <a:defRPr sz="1800"/>
            </a:pPr>
            <a:r>
              <a:t>  • 線形モデル、解釈性が高い</a:t>
            </a:r>
          </a:p>
          <a:p>
            <a:pPr>
              <a:spcAft>
                <a:spcPts val="400"/>
              </a:spcAft>
              <a:defRPr sz="1800"/>
            </a:pPr>
            <a:r>
              <a:t>  • ベースラインとして使用</a:t>
            </a:r>
          </a:p>
          <a:p>
            <a:pPr>
              <a:spcBef>
                <a:spcPts val="1600"/>
              </a:spcBef>
              <a:defRPr sz="2200" b="1">
                <a:solidFill>
                  <a:srgbClr val="003366"/>
                </a:solidFill>
              </a:defRPr>
            </a:pPr>
            <a:r>
              <a:t>2. MLP（Multi-Layer Perceptron）（PyTorch実装）</a:t>
            </a:r>
          </a:p>
          <a:p>
            <a:pPr>
              <a:spcAft>
                <a:spcPts val="400"/>
              </a:spcAft>
              <a:defRPr sz="1800"/>
            </a:pPr>
            <a:r>
              <a:t>  • 非線形関係を学習可能</a:t>
            </a:r>
          </a:p>
          <a:p>
            <a:pPr>
              <a:spcAft>
                <a:spcPts val="400"/>
              </a:spcAft>
              <a:defRPr sz="1800"/>
            </a:pPr>
            <a:r>
              <a:t>  • BatchNorm + Dropoutで正則化</a:t>
            </a:r>
          </a:p>
          <a:p>
            <a:pPr>
              <a:spcBef>
                <a:spcPts val="1600"/>
              </a:spcBef>
              <a:defRPr sz="2200" b="1">
                <a:solidFill>
                  <a:srgbClr val="003366"/>
                </a:solidFill>
              </a:defRPr>
            </a:pPr>
            <a:r>
              <a:t>3. Random Forest（scikit-learn）</a:t>
            </a:r>
          </a:p>
          <a:p>
            <a:pPr>
              <a:spcAft>
                <a:spcPts val="400"/>
              </a:spcAft>
              <a:defRPr sz="1800"/>
            </a:pPr>
            <a:r>
              <a:t>  • アンサンブル手法、過学習に強い</a:t>
            </a:r>
          </a:p>
          <a:p>
            <a:pPr>
              <a:spcAft>
                <a:spcPts val="400"/>
              </a:spcAft>
              <a:defRPr sz="1800"/>
            </a:pPr>
            <a:r>
              <a:t>  • 特徴量重要度を算出可能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クラス不均衡対策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097280"/>
          </a:xfrm>
          <a:prstGeom prst="roundRect">
            <a:avLst/>
          </a:prstGeom>
          <a:solidFill>
            <a:srgbClr val="D9E2F3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問題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Yes:No = 22:78 の不均衡データでは、「すべてNoと予測」でも78%の精度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対策1: Weighted BCE Loss</a:t>
            </a:r>
          </a:p>
          <a:p>
            <a:pPr>
              <a:spcAft>
                <a:spcPts val="1200"/>
              </a:spcAft>
              <a:defRPr sz="1600"/>
            </a:pPr>
            <a:r>
              <a:t>  L = -1/N Σ [w₁·y·log(ŷ) + w₀·(1-y)·log(1-ŷ)]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対策2: Focal Loss</a:t>
            </a:r>
          </a:p>
          <a:p>
            <a:pPr>
              <a:spcAft>
                <a:spcPts val="1200"/>
              </a:spcAft>
              <a:defRPr sz="1600"/>
            </a:pPr>
            <a:r>
              <a:t>  L_focal = -α(1-pₜ)^γ log(pₜ)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対策3: class_weight='balanced'（Random Forest）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Optunaによる最適化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Optunaの特徴</a:t>
            </a:r>
          </a:p>
          <a:p>
            <a:pPr>
              <a:spcAft>
                <a:spcPts val="400"/>
              </a:spcAft>
              <a:defRPr sz="1600"/>
            </a:pPr>
            <a:r>
              <a:t>• TPE（Tree-structured Parzen Estimator）</a:t>
            </a:r>
          </a:p>
          <a:p>
            <a:pPr>
              <a:spcAft>
                <a:spcPts val="400"/>
              </a:spcAft>
              <a:defRPr sz="1600"/>
            </a:pPr>
            <a:r>
              <a:t>• 自動枝刈り（Pruning）</a:t>
            </a:r>
          </a:p>
          <a:p>
            <a:pPr>
              <a:spcAft>
                <a:spcPts val="400"/>
              </a:spcAft>
              <a:defRPr sz="1600"/>
            </a:pPr>
            <a:r>
              <a:t>• 効率的な探索空間の探索</a:t>
            </a:r>
          </a:p>
          <a:p/>
          <a:p>
            <a:pPr>
              <a:defRPr sz="2200" b="1">
                <a:solidFill>
                  <a:srgbClr val="003366"/>
                </a:solidFill>
              </a:defRPr>
            </a:pPr>
            <a:r>
              <a:t>設定</a:t>
            </a:r>
          </a:p>
          <a:p>
            <a:pPr>
              <a:spcAft>
                <a:spcPts val="400"/>
              </a:spcAft>
              <a:defRPr sz="1600"/>
            </a:pPr>
            <a:r>
              <a:t>• 各モデル: 50トライアル</a:t>
            </a:r>
          </a:p>
          <a:p>
            <a:pPr>
              <a:spcAft>
                <a:spcPts val="400"/>
              </a:spcAft>
              <a:defRPr sz="1600"/>
            </a:pPr>
            <a:r>
              <a:t>• 最適化目標: Val AUC-ROC</a:t>
            </a:r>
          </a:p>
          <a:p>
            <a:pPr>
              <a:spcAft>
                <a:spcPts val="400"/>
              </a:spcAft>
              <a:defRPr sz="1600"/>
            </a:pPr>
            <a:r>
              <a:t>• Pruner: MedianPruner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探索パラメータ</a:t>
            </a:r>
          </a:p>
          <a:p>
            <a:pPr>
              <a:spcAft>
                <a:spcPts val="400"/>
              </a:spcAft>
              <a:defRPr sz="1600"/>
            </a:pPr>
            <a:r>
              <a:t>• 学習率: [10⁻⁵, 10⁻¹]</a:t>
            </a:r>
          </a:p>
          <a:p>
            <a:pPr>
              <a:spcAft>
                <a:spcPts val="400"/>
              </a:spcAft>
              <a:defRPr sz="1600"/>
            </a:pPr>
            <a:r>
              <a:t>• 正則化: [10⁻⁶, 10⁻²]</a:t>
            </a:r>
          </a:p>
          <a:p>
            <a:pPr>
              <a:spcAft>
                <a:spcPts val="400"/>
              </a:spcAft>
              <a:defRPr sz="1600"/>
            </a:pPr>
            <a:r>
              <a:t>• バッチサイズ: 64, 128, 256, 512</a:t>
            </a:r>
          </a:p>
          <a:p>
            <a:pPr>
              <a:spcAft>
                <a:spcPts val="400"/>
              </a:spcAft>
              <a:defRPr sz="1600"/>
            </a:pPr>
            <a:r>
              <a:t>• 損失関数: Weighted BCE, Focal</a:t>
            </a:r>
          </a:p>
          <a:p>
            <a:pPr>
              <a:spcAft>
                <a:spcPts val="400"/>
              </a:spcAft>
              <a:defRPr sz="1600"/>
            </a:pPr>
            <a:r>
              <a:t>• オプティマイザ: SGD, Adam, AdamW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ロジスティック回帰のチューニング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学習率: [10⁻⁴, 10⁻¹]（対数スケール）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重み減衰（L2正則化）: [10⁻⁶, 10⁻²]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オプティマイザ: SGD, Adam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損失関数: Weighted BCE, Focal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474720"/>
            <a:ext cx="6400800" cy="2926080"/>
          </a:xfrm>
          <a:prstGeom prst="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[画像未生成]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ロジスティック回帰の学習曲線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MLPのチューニング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隠れ層数: 1〜4層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各層のユニット数: 32〜512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Dropout率: 0.0〜0.5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オプティマイザ: Adam, AdamW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474720"/>
            <a:ext cx="6400800" cy="2926080"/>
          </a:xfrm>
          <a:prstGeom prst="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[画像未生成]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MLPの学習曲線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Random Forestのチューニング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n_estimators: 50〜500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max_depth: 5〜50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min_samples_split: 2〜20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min_samples_leaf: 1〜10</a:t>
            </a:r>
          </a:p>
          <a:p>
            <a:pPr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max_features: 'sqrt', 'log2', None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474720"/>
            <a:ext cx="6400800" cy="2926080"/>
          </a:xfrm>
          <a:prstGeom prst="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[画像未生成]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465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Random Forestの特徴量重要度（上位10）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評価指標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371600"/>
          <a:ext cx="9601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説明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全体の正解率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雨と予測した中で実際に雨だった割合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実際の雨をどれだけ捕捉できたか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PrecisionとRecallの調和平均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ROC曲線下面積（主指標）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AUC-PR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Precision-Recall曲線下面積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572000"/>
            <a:ext cx="9601200" cy="1097280"/>
          </a:xfrm>
          <a:prstGeom prst="roundRect">
            <a:avLst/>
          </a:prstGeom>
          <a:solidFill>
            <a:srgbClr val="D9E2F3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709160"/>
            <a:ext cx="9235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AUC-ROCを主指標とする理由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閾値に依存しない評価が可能であり、クラス不均衡データに対して適切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テストデータでの評価結果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1097280"/>
                <a:gridCol w="91440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モデル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AUC-PR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0.674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200400" y="3474720"/>
            <a:ext cx="5486400" cy="2743200"/>
          </a:xfrm>
          <a:prstGeom prst="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5720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[画像未生成]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評価指標の比較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ROCカーブ比較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280160"/>
            <a:ext cx="777240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0632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[画像未生成]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4406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ROCカーブの比較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曲線が左上に近いほど性能が良い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対角線はランダム予測（AUC=0.5）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混同行列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96012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[画像未生成]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各モデルの混同行列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モデル比較の考察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2000" b="1">
                <a:solidFill>
                  <a:srgbClr val="003366"/>
                </a:solidFill>
              </a:defRPr>
            </a:pPr>
            <a:r>
              <a:t>Random Forestが最高性能を達成</a:t>
            </a:r>
          </a:p>
          <a:p>
            <a:pPr>
              <a:spcAft>
                <a:spcPts val="200"/>
              </a:spcAft>
              <a:defRPr sz="1600"/>
            </a:pPr>
            <a:r>
              <a:t>  • 非線形関係を効果的に捉える</a:t>
            </a:r>
          </a:p>
          <a:p>
            <a:pPr>
              <a:spcAft>
                <a:spcPts val="200"/>
              </a:spcAft>
              <a:defRPr sz="1600"/>
            </a:pPr>
            <a:r>
              <a:t>  • 特徴量間の相互作用を自動学習</a:t>
            </a:r>
          </a:p>
          <a:p>
            <a:pPr>
              <a:spcAft>
                <a:spcPts val="200"/>
              </a:spcAft>
              <a:defRPr sz="1600"/>
            </a:pPr>
            <a:r>
              <a:t>  • アンサンブル効果で過学習を抑制</a:t>
            </a:r>
          </a:p>
          <a:p>
            <a:pPr>
              <a:spcBef>
                <a:spcPts val="1000"/>
              </a:spcBef>
              <a:defRPr sz="2000" b="1">
                <a:solidFill>
                  <a:srgbClr val="003366"/>
                </a:solidFill>
              </a:defRPr>
            </a:pPr>
            <a:r>
              <a:t>MLPの特徴</a:t>
            </a:r>
          </a:p>
          <a:p>
            <a:pPr>
              <a:spcAft>
                <a:spcPts val="200"/>
              </a:spcAft>
              <a:defRPr sz="1600"/>
            </a:pPr>
            <a:r>
              <a:t>  • 良好な性能だがチューニングに時間がかかる</a:t>
            </a:r>
          </a:p>
          <a:p>
            <a:pPr>
              <a:spcAft>
                <a:spcPts val="200"/>
              </a:spcAft>
              <a:defRPr sz="1600"/>
            </a:pPr>
            <a:r>
              <a:t>  • 適切なアーキテクチャ選択が重要</a:t>
            </a:r>
          </a:p>
          <a:p>
            <a:pPr>
              <a:spcAft>
                <a:spcPts val="200"/>
              </a:spcAft>
              <a:defRPr sz="1600"/>
            </a:pPr>
            <a:r>
              <a:t>  • GPU活用で学習を高速化</a:t>
            </a:r>
          </a:p>
          <a:p>
            <a:pPr>
              <a:spcBef>
                <a:spcPts val="1000"/>
              </a:spcBef>
              <a:defRPr sz="2000" b="1">
                <a:solidFill>
                  <a:srgbClr val="003366"/>
                </a:solidFill>
              </a:defRPr>
            </a:pPr>
            <a:r>
              <a:t>ロジスティック回帰の特徴</a:t>
            </a:r>
          </a:p>
          <a:p>
            <a:pPr>
              <a:spcAft>
                <a:spcPts val="200"/>
              </a:spcAft>
              <a:defRPr sz="1600"/>
            </a:pPr>
            <a:r>
              <a:t>  • シンプルで解釈性が高い</a:t>
            </a:r>
          </a:p>
          <a:p>
            <a:pPr>
              <a:spcAft>
                <a:spcPts val="200"/>
              </a:spcAft>
              <a:defRPr sz="1600"/>
            </a:pPr>
            <a:r>
              <a:t>  • 非線形関係の捕捉に限界</a:t>
            </a:r>
          </a:p>
          <a:p>
            <a:pPr>
              <a:spcAft>
                <a:spcPts val="200"/>
              </a:spcAft>
              <a:defRPr sz="1600"/>
            </a:pPr>
            <a:r>
              <a:t>  • ベースラインとして有用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重要な特徴量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Random Forestの特徴量重要度分析から: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上位の特徴量</a:t>
            </a:r>
          </a:p>
          <a:p>
            <a:pPr>
              <a:spcAft>
                <a:spcPts val="400"/>
              </a:spcAft>
              <a:defRPr sz="1800"/>
            </a:pPr>
            <a:r>
              <a:t>  1. Humidity3pm: 午後の湿度が最重要</a:t>
            </a:r>
          </a:p>
          <a:p>
            <a:pPr>
              <a:spcAft>
                <a:spcPts val="400"/>
              </a:spcAft>
              <a:defRPr sz="1800"/>
            </a:pPr>
            <a:r>
              <a:t>  2. Pressure3pm: 気圧も重要な予測因子</a:t>
            </a:r>
          </a:p>
          <a:p>
            <a:pPr>
              <a:spcAft>
                <a:spcPts val="400"/>
              </a:spcAft>
              <a:defRPr sz="1800"/>
            </a:pPr>
            <a:r>
              <a:t>  3. Sunshine: 日照時間</a:t>
            </a:r>
          </a:p>
          <a:p>
            <a:pPr>
              <a:spcAft>
                <a:spcPts val="400"/>
              </a:spcAft>
              <a:defRPr sz="1800"/>
            </a:pPr>
            <a:r>
              <a:t>  4. Cloud3pm: 午後の雲量</a:t>
            </a:r>
          </a:p>
          <a:p>
            <a:pPr>
              <a:spcAft>
                <a:spcPts val="400"/>
              </a:spcAft>
              <a:defRPr sz="1800"/>
            </a:pPr>
            <a:r>
              <a:t>  5. RainToday: 本日の雨の有無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D9E2F3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気象学的解釈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午後の湿度・気圧・雲量は、翌日の降雨を予測する上で物理的に妥当な指標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本研究の成果</a:t>
            </a:r>
          </a:p>
          <a:p>
            <a:pPr>
              <a:spcAft>
                <a:spcPts val="400"/>
              </a:spcAft>
              <a:defRPr sz="1600"/>
            </a:pPr>
            <a:r>
              <a:t>  1. 3種類のモデル（ロジスティック回帰、MLP、Random Forest）を実装・比較</a:t>
            </a:r>
          </a:p>
          <a:p>
            <a:pPr>
              <a:spcAft>
                <a:spcPts val="400"/>
              </a:spcAft>
              <a:defRPr sz="1600"/>
            </a:pPr>
            <a:r>
              <a:t>  2. Optunaによる体系的なハイパーパラメータチューニングを実施</a:t>
            </a:r>
          </a:p>
          <a:p>
            <a:pPr>
              <a:spcAft>
                <a:spcPts val="400"/>
              </a:spcAft>
              <a:defRPr sz="1600"/>
            </a:pPr>
            <a:r>
              <a:t>  3. クラス不均衡に対する適切な対策（Weighted Loss, class_weight）を適用</a:t>
            </a:r>
          </a:p>
          <a:p>
            <a:pPr>
              <a:spcAft>
                <a:spcPts val="400"/>
              </a:spcAft>
              <a:defRPr sz="1600"/>
            </a:pPr>
            <a:r>
              <a:t>  4. MLPが最高のAUC-ROC(0.875)を達成</a:t>
            </a:r>
          </a:p>
          <a:p/>
          <a:p>
            <a:pPr>
              <a:defRPr sz="2200" b="1">
                <a:solidFill>
                  <a:srgbClr val="003366"/>
                </a:solidFill>
              </a:defRPr>
            </a:pPr>
            <a:r>
              <a:t>今後の課題</a:t>
            </a:r>
          </a:p>
          <a:p>
            <a:pPr>
              <a:spcAft>
                <a:spcPts val="400"/>
              </a:spcAft>
              <a:defRPr sz="1600"/>
            </a:pPr>
            <a:r>
              <a:t>  • 勾配ブースティング（LightGBM、XGBoost）の追加</a:t>
            </a:r>
          </a:p>
          <a:p>
            <a:pPr>
              <a:spcAft>
                <a:spcPts val="400"/>
              </a:spcAft>
              <a:defRPr sz="1600"/>
            </a:pPr>
            <a:r>
              <a:t>  • 時系列特徴量（ラグ特徴量、移動平均）の導入</a:t>
            </a:r>
          </a:p>
          <a:p>
            <a:pPr>
              <a:spcAft>
                <a:spcPts val="400"/>
              </a:spcAft>
              <a:defRPr sz="1600"/>
            </a:pPr>
            <a:r>
              <a:t>  • モデルアンサンブル（スタッキング）の検討</a:t>
            </a:r>
          </a:p>
          <a:p>
            <a:pPr>
              <a:spcAft>
                <a:spcPts val="400"/>
              </a:spcAft>
              <a:defRPr sz="1600"/>
            </a:pPr>
            <a:r>
              <a:t>  • より多くのトライアルでのハイパーパラメータ探索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600"/>
            </a:pPr>
            <a:r>
              <a:t>[1] Young, J. (2017). Rain in Australia. Kaggle Dataset.</a:t>
            </a:r>
            <a:br/>
            <a:r>
              <a:t>     https://www.kaggle.com/datasets/jsphyg/weather-dataset-rattle-package</a:t>
            </a:r>
          </a:p>
          <a:p>
            <a:pPr>
              <a:spcAft>
                <a:spcPts val="1600"/>
              </a:spcAft>
              <a:defRPr sz="1600"/>
            </a:pPr>
            <a:r>
              <a:t>[2] Paszke, A., et al. (2019). PyTorch: An Imperative Style,</a:t>
            </a:r>
            <a:br/>
            <a:r>
              <a:t>     High-Performance Deep Learning Library. NeurIPS.</a:t>
            </a:r>
          </a:p>
          <a:p>
            <a:pPr>
              <a:spcAft>
                <a:spcPts val="1600"/>
              </a:spcAft>
              <a:defRPr sz="1600"/>
            </a:pPr>
            <a:r>
              <a:t>[3] Akiba, T., et al. (2019). Optuna: A Next-generation</a:t>
            </a:r>
            <a:br/>
            <a:r>
              <a:t>     Hyperparameter Optimization Framework. KDD.</a:t>
            </a:r>
          </a:p>
          <a:p>
            <a:pPr>
              <a:spcAft>
                <a:spcPts val="1600"/>
              </a:spcAft>
              <a:defRPr sz="1600"/>
            </a:pPr>
            <a:r>
              <a:t>[4] Pedregosa, F., et al. (2011). Scikit-learn: Machine Learning</a:t>
            </a:r>
            <a:br/>
            <a:r>
              <a:t>     in Python. JMLR.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