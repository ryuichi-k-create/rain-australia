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141414"/>
                </a:solidFill>
                <a:latin typeface="Times New Roman"/>
                <a:ea typeface="游ゴシック"/>
              </a:rPr>
              <a:t>天気予測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0">
                <a:solidFill>
                  <a:srgbClr val="505050"/>
                </a:solidFill>
                <a:latin typeface="Times New Roman"/>
                <a:ea typeface="游ゴシック"/>
              </a:rPr>
              <a:t>機械科学専攻 1年
小西隆一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課題の背景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目的</a:t>
            </a:r>
          </a:p>
          <a:p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オーストラリアの気象データを用いて、明日が雨になるか否かを予測する2値分類モデルを構築する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なぜこのテーマを選んだか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・金沢市は年間降水量が多く、雨の日を事前に予測できると日常生活で役立つ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・気象データを用いた機械学習予測に興味があった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・2値分類の実践的な題材として適切だった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43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日常生活・研究への応用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・外出・イベントの計画立案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・農業における作業スケジュール管理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・交通機関の運行計画への活用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データセット概要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dirty="0" err="1">
                <a:solidFill>
                  <a:srgbClr val="141414"/>
                </a:solidFill>
                <a:latin typeface="Times New Roman"/>
                <a:ea typeface="游ゴシック"/>
              </a:rPr>
              <a:t>基本情報</a:t>
            </a:r>
            <a:endParaRPr sz="2200" b="1" dirty="0">
              <a:solidFill>
                <a:srgbClr val="141414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8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レコード数</a:t>
            </a: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: 145,460件</a:t>
            </a:r>
          </a:p>
          <a:p>
            <a:pPr>
              <a:spcAft>
                <a:spcPts val="600"/>
              </a:spcAft>
            </a:pP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8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特徴量数</a:t>
            </a: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: 2</a:t>
            </a:r>
            <a:r>
              <a:rPr lang="en-US"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2</a:t>
            </a: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カラム</a:t>
            </a:r>
          </a:p>
          <a:p>
            <a:pPr>
              <a:spcAft>
                <a:spcPts val="600"/>
              </a:spcAft>
            </a:pP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8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ターゲット</a:t>
            </a: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: </a:t>
            </a:r>
            <a:r>
              <a:rPr sz="18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RainTomorrow</a:t>
            </a: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 (Yes/No)</a:t>
            </a:r>
          </a:p>
          <a:p>
            <a:pPr>
              <a:spcAft>
                <a:spcPts val="600"/>
              </a:spcAft>
            </a:pP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8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期間</a:t>
            </a: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: 2007年11月〜2017年6月</a:t>
            </a:r>
          </a:p>
          <a:p>
            <a:pPr>
              <a:spcAft>
                <a:spcPts val="600"/>
              </a:spcAft>
            </a:pP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8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観測地点</a:t>
            </a:r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: オーストラリア全土49箇所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クラス分布（不均衡）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・No（雨なし）: 78%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・Yes（雨あり）: 22%</a:t>
            </a:r>
          </a:p>
        </p:txBody>
      </p:sp>
      <p:pic>
        <p:nvPicPr>
          <p:cNvPr id="9" name="図 8" descr="モニター, 屋外, 座る, 大き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7CFCB79-FF93-7AD7-291E-F8694988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970" y="2070694"/>
            <a:ext cx="5521965" cy="3415706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3954F3E-7936-E8F1-62D7-1BDF4F0679AF}"/>
              </a:ext>
            </a:extLst>
          </p:cNvPr>
          <p:cNvSpPr txBox="1"/>
          <p:nvPr/>
        </p:nvSpPr>
        <p:spPr>
          <a:xfrm>
            <a:off x="5799405" y="5781776"/>
            <a:ext cx="59049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Young, J. (2017). Rain in Australia.</a:t>
            </a:r>
            <a:r>
              <a:rPr lang="ja-JP" altLang="en-US" sz="1400" dirty="0"/>
              <a:t>　</a:t>
            </a:r>
            <a:r>
              <a:rPr lang="en-US" altLang="ja-JP" sz="1400" dirty="0"/>
              <a:t>Kaggle Dataset.</a:t>
            </a:r>
          </a:p>
          <a:p>
            <a:r>
              <a:rPr lang="ja-JP" altLang="en-US" sz="1400" dirty="0"/>
              <a:t>https://www.kaggle.com/datasets/jsphyg/weather-dataset-rattle-package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特徴量の種類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414"/>
                </a:solidFill>
                <a:latin typeface="Times New Roman"/>
                <a:ea typeface="游ゴシック"/>
              </a:rPr>
              <a:t>数値変数（16個）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・気温: MinTemp, MaxTemp, Temp9am, Temp3pm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・降水: Rainfall, Evaporation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・日照: Sunshine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・風速: WindGustSpeed, WindSpeed9am/3pm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・湿度: Humidity9am/3pm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・気圧: Pressure9am/3pm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・雲量: Cloud9am/3pm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414"/>
                </a:solidFill>
                <a:latin typeface="Times New Roman"/>
                <a:ea typeface="游ゴシック"/>
              </a:rPr>
              <a:t>カテゴリ変数（6個）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・Location: 49観測地点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・WindGustDir: 突風方向（16方位）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・WindDir9am: 9時の風向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・WindDir3pm: 15時の風向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・RainToday: 本日の雨（Yes/No）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・RainTomorrow: ターゲット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データ分割（時系列）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時系列分割の重要性</a:t>
            </a:r>
          </a:p>
          <a:p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未来のデータで過去を予測することを防ぐため、時間順序を保持してデータを分割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926080"/>
          <a:ext cx="9601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データセット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期間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レコード数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割合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〜2015/06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約113,000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2015/07〜2016/06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約14,000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2016/07〜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約14,000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前処理の詳細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1. 欠損値処理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・数値変数: Location別の中央値で補完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・カテゴリ変数: Location別の最頻値で補完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・RainTomorrow欠損行は削除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2. 特徴量エンコーディング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・風向（16方位）: サイクリカルエンコーディング（sin θ, cos θ）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・RainToday: バイナリ（Yes=1, No=0）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・Location: ラベルエンコーディング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3. 標準化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・StandardScaler（平均0、標準偏差1）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・Trainデータで学習し、Val/Testに適用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使用モデル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1. ロジスティック回帰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・構造: 入力層 → 出力層（1ユニット）のシンプルな線形モデル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・特長: 解釈性が高く、各特徴量の重みから予測への寄与度がわかる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2. MLP（Multi-Layer Perceptron）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・構造: 入力層 → 隠れ層（複数）→ 出力層の多層ニューラルネット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・特長: 非線形な関係を学習可能、BatchNormとDropoutで過学習を抑制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3. Random Forest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・構造: 複数の決定木を並列に学習し、多数決で予測するアンサンブル手法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・特長: 過学習に強く、特徴量重要度を算出可能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クラス不均衡対策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問題点</a:t>
            </a:r>
          </a:p>
          <a:p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Yes:No = 22:78 の不均衡データでは、「すべてNoと予測」しても78%の精度になってしまう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414"/>
                </a:solidFill>
                <a:latin typeface="Times New Roman"/>
                <a:ea typeface="游ゴシック"/>
              </a:rPr>
              <a:t>実施した対策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1. ロジスティック回帰・MLP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・損失関数に重み付けを導入（Weighted BCE Loss）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・少数クラス（雨あり）の誤分類に対するペナルティを大きく設定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2. Random Forest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・class_weight='balanced' パラメータを使用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・各クラスのサンプル数に応じて自動的に重みを調整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ロジスティック回帰のチューニング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 err="1">
                <a:solidFill>
                  <a:srgbClr val="141414"/>
                </a:solidFill>
                <a:latin typeface="Times New Roman"/>
                <a:ea typeface="游ゴシック"/>
              </a:rPr>
              <a:t>探索したハイパーパラメータ</a:t>
            </a:r>
            <a:endParaRPr sz="2000" b="1" dirty="0">
              <a:solidFill>
                <a:srgbClr val="141414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6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学習率</a:t>
            </a: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: </a:t>
            </a:r>
            <a:r>
              <a:rPr sz="16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モデルの重み更新の大きさを制御</a:t>
            </a:r>
            <a:endParaRPr sz="1600" b="0" dirty="0">
              <a:solidFill>
                <a:srgbClr val="323232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・重み減衰（L2正則化）: </a:t>
            </a:r>
            <a:r>
              <a:rPr sz="16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過学習を防ぐ</a:t>
            </a:r>
            <a:endParaRPr sz="1600" b="0" dirty="0">
              <a:solidFill>
                <a:srgbClr val="323232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6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バッチサイズ</a:t>
            </a: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: 128, 256, 512</a:t>
            </a:r>
            <a:endParaRPr lang="en-US" sz="1600" b="0" dirty="0">
              <a:solidFill>
                <a:srgbClr val="323232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lang="ja-JP" altLang="en-US" sz="1600" dirty="0">
                <a:solidFill>
                  <a:srgbClr val="323232"/>
                </a:solidFill>
                <a:latin typeface="Times New Roman"/>
                <a:ea typeface="游ゴシック"/>
              </a:rPr>
              <a:t>・最適化手法</a:t>
            </a:r>
            <a:r>
              <a:rPr lang="en-US" altLang="ja-JP" sz="1600" dirty="0">
                <a:solidFill>
                  <a:srgbClr val="323232"/>
                </a:solidFill>
                <a:latin typeface="Times New Roman"/>
                <a:ea typeface="游ゴシック"/>
              </a:rPr>
              <a:t>: </a:t>
            </a:r>
            <a:r>
              <a:rPr lang="en-US" altLang="ja-JP" sz="1600" dirty="0" err="1">
                <a:solidFill>
                  <a:srgbClr val="323232"/>
                </a:solidFill>
                <a:latin typeface="Times New Roman"/>
                <a:ea typeface="游ゴシック"/>
              </a:rPr>
              <a:t>SGD,Adam,AdamW</a:t>
            </a:r>
            <a:endParaRPr lang="en-US" sz="1600" dirty="0">
              <a:solidFill>
                <a:srgbClr val="323232"/>
              </a:solidFill>
              <a:latin typeface="Times New Roman"/>
              <a:ea typeface="游ゴシック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4800" y="3633130"/>
            <a:ext cx="5029200" cy="22860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7680" y="3758235"/>
            <a:ext cx="46634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141414"/>
                </a:solidFill>
                <a:latin typeface="Times New Roman"/>
                <a:ea typeface="游ゴシック"/>
              </a:rPr>
              <a:t>選定されたパラメータ</a:t>
            </a:r>
            <a:endParaRPr sz="2000" b="1" dirty="0">
              <a:solidFill>
                <a:srgbClr val="141414"/>
              </a:solidFill>
              <a:latin typeface="Times New Roman"/>
              <a:ea typeface="游ゴシック"/>
            </a:endParaRPr>
          </a:p>
          <a:p>
            <a:r>
              <a:rPr sz="2000" b="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sz="2000" b="0" dirty="0" err="1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学習率</a:t>
            </a:r>
            <a:r>
              <a:rPr sz="2000" b="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 0.0135
・</a:t>
            </a:r>
            <a:r>
              <a:rPr sz="2000" b="0" dirty="0" err="1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重み減衰</a:t>
            </a:r>
            <a:r>
              <a:rPr sz="2000" b="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 4.15×10⁻⁶
・</a:t>
            </a:r>
            <a:r>
              <a:rPr sz="2000" b="0" dirty="0" err="1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バッチサイズ</a:t>
            </a:r>
            <a:r>
              <a:rPr sz="2000" b="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 512</a:t>
            </a:r>
            <a:endParaRPr lang="en-US" sz="2000" dirty="0">
              <a:solidFill>
                <a:srgbClr val="32323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20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・最適化手法</a:t>
            </a:r>
            <a:r>
              <a:rPr lang="en-US" altLang="ja-JP" sz="20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:Adam</a:t>
            </a:r>
          </a:p>
          <a:p>
            <a:r>
              <a:rPr lang="ja-JP" altLang="en-US" sz="2000" b="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lang="ja-JP" altLang="en-US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損失関数</a:t>
            </a:r>
            <a:r>
              <a:rPr lang="en-US" altLang="ja-JP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</a:t>
            </a:r>
            <a:r>
              <a:rPr lang="ja-JP" altLang="en-US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Weighted BCE Loss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（重み付き二値交差エントロピー損失）</a:t>
            </a:r>
          </a:p>
          <a:p>
            <a:endParaRPr sz="1800" b="0" dirty="0">
              <a:solidFill>
                <a:srgbClr val="323232"/>
              </a:solidFill>
              <a:latin typeface="Times New Roman"/>
              <a:ea typeface="游ゴシック"/>
            </a:endParaRPr>
          </a:p>
        </p:txBody>
      </p:sp>
      <p:pic>
        <p:nvPicPr>
          <p:cNvPr id="7" name="Picture 6" descr="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67000"/>
            <a:ext cx="5943600" cy="19811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477613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 err="1">
                <a:solidFill>
                  <a:srgbClr val="646464"/>
                </a:solidFill>
                <a:latin typeface="Times New Roman"/>
                <a:ea typeface="游ゴシック"/>
              </a:rPr>
              <a:t>学習曲線</a:t>
            </a:r>
            <a:endParaRPr sz="1400" b="0" dirty="0">
              <a:solidFill>
                <a:srgbClr val="646464"/>
              </a:solidFill>
              <a:latin typeface="Times New Roman"/>
              <a:ea typeface="游ゴシック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MLPのチューニング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 err="1">
                <a:solidFill>
                  <a:srgbClr val="141414"/>
                </a:solidFill>
                <a:latin typeface="Times New Roman"/>
                <a:ea typeface="游ゴシック"/>
              </a:rPr>
              <a:t>探索したハイパーパラメータ</a:t>
            </a:r>
            <a:endParaRPr sz="2000" b="1" dirty="0">
              <a:solidFill>
                <a:srgbClr val="141414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6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隠れ層数</a:t>
            </a: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: 1〜3層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6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各層のユニット数</a:t>
            </a: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: 64〜256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16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Dropout率</a:t>
            </a:r>
            <a:r>
              <a:rPr sz="1600" b="0" dirty="0">
                <a:solidFill>
                  <a:srgbClr val="323232"/>
                </a:solidFill>
                <a:latin typeface="Times New Roman"/>
                <a:ea typeface="游ゴシック"/>
              </a:rPr>
              <a:t>: 0.1〜0.4</a:t>
            </a:r>
            <a:endParaRPr lang="en-US" sz="1600" b="0" dirty="0">
              <a:solidFill>
                <a:srgbClr val="323232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lang="ja-JP" altLang="en-US" sz="1600" dirty="0">
                <a:solidFill>
                  <a:srgbClr val="323232"/>
                </a:solidFill>
                <a:latin typeface="Times New Roman"/>
                <a:ea typeface="游ゴシック"/>
              </a:rPr>
              <a:t>・最適化手法</a:t>
            </a:r>
            <a:r>
              <a:rPr lang="en-US" altLang="ja-JP" sz="1600" dirty="0">
                <a:solidFill>
                  <a:srgbClr val="323232"/>
                </a:solidFill>
                <a:latin typeface="Times New Roman"/>
                <a:ea typeface="游ゴシック"/>
              </a:rPr>
              <a:t>: </a:t>
            </a:r>
            <a:r>
              <a:rPr lang="en-US" altLang="ja-JP" sz="1600" dirty="0" err="1">
                <a:solidFill>
                  <a:srgbClr val="323232"/>
                </a:solidFill>
                <a:latin typeface="Times New Roman"/>
                <a:ea typeface="游ゴシック"/>
              </a:rPr>
              <a:t>SGD,Adam,AdamW</a:t>
            </a:r>
            <a:endParaRPr lang="en-US" altLang="ja-JP" sz="1600" dirty="0">
              <a:solidFill>
                <a:srgbClr val="323232"/>
              </a:solidFill>
              <a:latin typeface="Times New Roman"/>
              <a:ea typeface="游ゴシック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5527964" cy="2447636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4661" y="3718787"/>
            <a:ext cx="54005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41414"/>
                </a:solidFill>
                <a:latin typeface="Times New Roman"/>
                <a:ea typeface="游ゴシック"/>
              </a:rPr>
              <a:t>選定されたパラメータ</a:t>
            </a:r>
            <a:endParaRPr b="1" dirty="0">
              <a:solidFill>
                <a:srgbClr val="141414"/>
              </a:solidFill>
              <a:latin typeface="Times New Roman"/>
              <a:ea typeface="游ゴシック"/>
            </a:endParaRPr>
          </a:p>
          <a:p>
            <a:r>
              <a:rPr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b="0" dirty="0" err="1">
                <a:solidFill>
                  <a:srgbClr val="323232"/>
                </a:solidFill>
                <a:latin typeface="Times New Roman"/>
                <a:ea typeface="游ゴシック"/>
              </a:rPr>
              <a:t>隠れ層</a:t>
            </a:r>
            <a:r>
              <a:rPr b="0" dirty="0">
                <a:solidFill>
                  <a:srgbClr val="323232"/>
                </a:solidFill>
                <a:latin typeface="Times New Roman"/>
                <a:ea typeface="游ゴシック"/>
              </a:rPr>
              <a:t>: 2層 [64, 192]
・</a:t>
            </a:r>
            <a:r>
              <a:rPr b="0" dirty="0" err="1">
                <a:solidFill>
                  <a:srgbClr val="323232"/>
                </a:solidFill>
                <a:latin typeface="Times New Roman"/>
                <a:ea typeface="游ゴシック"/>
              </a:rPr>
              <a:t>Dropout率</a:t>
            </a:r>
            <a:r>
              <a:rPr b="0" dirty="0">
                <a:solidFill>
                  <a:srgbClr val="323232"/>
                </a:solidFill>
                <a:latin typeface="Times New Roman"/>
                <a:ea typeface="游ゴシック"/>
              </a:rPr>
              <a:t>: 0.163
・</a:t>
            </a:r>
            <a:r>
              <a:rPr b="0" dirty="0" err="1">
                <a:solidFill>
                  <a:srgbClr val="323232"/>
                </a:solidFill>
                <a:latin typeface="Times New Roman"/>
                <a:ea typeface="游ゴシック"/>
              </a:rPr>
              <a:t>学習率</a:t>
            </a:r>
            <a:r>
              <a:rPr b="0" dirty="0">
                <a:solidFill>
                  <a:srgbClr val="323232"/>
                </a:solidFill>
                <a:latin typeface="Times New Roman"/>
                <a:ea typeface="游ゴシック"/>
              </a:rPr>
              <a:t>: 0.00168
・</a:t>
            </a:r>
            <a:r>
              <a:rPr b="0" dirty="0" err="1">
                <a:solidFill>
                  <a:srgbClr val="323232"/>
                </a:solidFill>
                <a:latin typeface="Times New Roman"/>
                <a:ea typeface="游ゴシック"/>
              </a:rPr>
              <a:t>バッチサイズ</a:t>
            </a:r>
            <a:r>
              <a:rPr b="0" dirty="0">
                <a:solidFill>
                  <a:srgbClr val="323232"/>
                </a:solidFill>
                <a:latin typeface="Times New Roman"/>
                <a:ea typeface="游ゴシック"/>
              </a:rPr>
              <a:t>: 256</a:t>
            </a:r>
            <a:endParaRPr lang="en-US" b="0" dirty="0">
              <a:solidFill>
                <a:srgbClr val="323232"/>
              </a:solidFill>
              <a:latin typeface="Times New Roman"/>
              <a:ea typeface="游ゴシック"/>
            </a:endParaRPr>
          </a:p>
          <a:p>
            <a:r>
              <a:rPr lang="ja-JP" altLang="en-US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・最適化手法</a:t>
            </a:r>
            <a:r>
              <a:rPr lang="en-US" altLang="ja-JP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:Adam</a:t>
            </a:r>
          </a:p>
          <a:p>
            <a:r>
              <a:rPr lang="ja-JP" altLang="en-US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・損失関数</a:t>
            </a:r>
            <a:r>
              <a:rPr lang="en-US" altLang="ja-JP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</a:t>
            </a:r>
            <a:r>
              <a:rPr lang="ja-JP" altLang="en-US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Weighted BCE Loss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（重み付き二値交差エントロピー損失）</a:t>
            </a:r>
          </a:p>
          <a:p>
            <a:r>
              <a:rPr sz="1800" b="0" dirty="0">
                <a:solidFill>
                  <a:srgbClr val="323232"/>
                </a:solidFill>
                <a:latin typeface="Times New Roman"/>
                <a:ea typeface="游ゴシック"/>
              </a:rPr>
              <a:t>
</a:t>
            </a:r>
          </a:p>
        </p:txBody>
      </p:sp>
      <p:pic>
        <p:nvPicPr>
          <p:cNvPr id="7" name="Picture 6" descr="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67000"/>
            <a:ext cx="5943600" cy="19811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4921348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 err="1">
                <a:solidFill>
                  <a:srgbClr val="646464"/>
                </a:solidFill>
                <a:latin typeface="Times New Roman"/>
                <a:ea typeface="游ゴシック"/>
              </a:rPr>
              <a:t>学習曲線</a:t>
            </a:r>
            <a:endParaRPr sz="1400" b="0" dirty="0">
              <a:solidFill>
                <a:srgbClr val="646464"/>
              </a:solidFill>
              <a:latin typeface="Times New Roman"/>
              <a:ea typeface="游ゴシック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Random Forestのチューニング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0108" y="1996536"/>
            <a:ext cx="548640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 err="1">
                <a:solidFill>
                  <a:srgbClr val="141414"/>
                </a:solidFill>
                <a:latin typeface="Times New Roman"/>
                <a:ea typeface="游ゴシック"/>
              </a:rPr>
              <a:t>探索したハイパーパラメータ</a:t>
            </a:r>
            <a:endParaRPr sz="2000" b="1" dirty="0">
              <a:solidFill>
                <a:srgbClr val="141414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20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n_estimators</a:t>
            </a:r>
            <a:r>
              <a:rPr sz="2000" b="0" dirty="0">
                <a:solidFill>
                  <a:srgbClr val="323232"/>
                </a:solidFill>
                <a:latin typeface="Times New Roman"/>
                <a:ea typeface="游ゴシック"/>
              </a:rPr>
              <a:t>: 決定木の数（100〜300）</a:t>
            </a: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20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max_depth</a:t>
            </a:r>
            <a:r>
              <a:rPr sz="2000" b="0" dirty="0">
                <a:solidFill>
                  <a:srgbClr val="323232"/>
                </a:solidFill>
                <a:latin typeface="Times New Roman"/>
                <a:ea typeface="游ゴシック"/>
              </a:rPr>
              <a:t>: 各決定木の最大深さ（10〜30）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3074" y="4475712"/>
            <a:ext cx="5486400" cy="13716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2795954" y="4612872"/>
            <a:ext cx="5120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選定されたパラメータ</a:t>
            </a:r>
          </a:p>
          <a:p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・n_estimators: 300
・max_depth: 26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評価指標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指標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説明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全体の正解率。全予測のうち正しく分類できた割合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「雨」と予測したもののうち、実際に雨だった割合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実際の雨の日のうち、正しく「雨」と予測できた割合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PrecisionとRecallの調和平均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572000"/>
            <a:ext cx="10515600" cy="118872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不均衡データでの注意点</a:t>
            </a:r>
          </a:p>
          <a:p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Accuracyだけでは正しく評価できない。Precision, Recall, F1-Scoreを総合的に見ることが重要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テストデータでの評価結果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モデル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Accuracy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Precision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Recall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游ゴシック"/>
                        </a:rPr>
                        <a:t>F1-Score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ロジスティック回帰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0.641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23232"/>
                          </a:solidFill>
                          <a:latin typeface="Times New Roman"/>
                          <a:ea typeface="游ゴシック"/>
                        </a:rPr>
                        <a:t>0.577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結果の概要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・Random ForestがAccuracyとPrecisionで最高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・MLPがRecallとF1-Scoreで最高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・ロジスティック回帰はベースラインとして妥当な性能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混同行列</a:t>
            </a:r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86" y="1828800"/>
            <a:ext cx="11056034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6692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 err="1">
                <a:solidFill>
                  <a:srgbClr val="646464"/>
                </a:solidFill>
                <a:latin typeface="Times New Roman"/>
                <a:ea typeface="游ゴシック"/>
              </a:rPr>
              <a:t>各モデルの混同行列</a:t>
            </a:r>
            <a:endParaRPr sz="1400" b="0" dirty="0">
              <a:solidFill>
                <a:srgbClr val="646464"/>
              </a:solidFill>
              <a:latin typeface="Times New Roman"/>
              <a:ea typeface="游ゴシック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B621BC-DBB0-BC20-D2DD-B50E38360FB9}"/>
              </a:ext>
            </a:extLst>
          </p:cNvPr>
          <p:cNvSpPr txBox="1"/>
          <p:nvPr/>
        </p:nvSpPr>
        <p:spPr>
          <a:xfrm>
            <a:off x="1371600" y="1448972"/>
            <a:ext cx="2553286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ロジスティック回帰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24CE19-C9DC-7895-29DF-3E672A2C29DE}"/>
              </a:ext>
            </a:extLst>
          </p:cNvPr>
          <p:cNvSpPr txBox="1"/>
          <p:nvPr/>
        </p:nvSpPr>
        <p:spPr>
          <a:xfrm>
            <a:off x="5713830" y="1460695"/>
            <a:ext cx="2553286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MLP</a:t>
            </a:r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1D23D5-6B42-9950-46A7-16598DF47745}"/>
              </a:ext>
            </a:extLst>
          </p:cNvPr>
          <p:cNvSpPr txBox="1"/>
          <p:nvPr/>
        </p:nvSpPr>
        <p:spPr>
          <a:xfrm>
            <a:off x="8642252" y="1477108"/>
            <a:ext cx="2553286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Random Forest</a:t>
            </a:r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モデル比較の考察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Random Forestの高いAccuracy・Precisionの理由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・決定木のアンサンブルにより、特徴量間の複雑な相互作用を捉えられた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・ただしRecallが低く、雨の日の見逃しが多い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MLPの高いRecall・F1-Scoreの理由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・重み付き損失関数により、少数クラス（雨あり）を積極的に検出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・Precisionは低めで、誤警報が多い傾向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ロジスティック回帰の限界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・線形モデルのため、非線形な関係の捕捉に限界がある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・しかしベースラインとして、他モデルの改善度を測る基準になった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重要な特徴量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Random Forestの特徴量重要度分析から: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  <a:latin typeface="Times New Roman"/>
                <a:ea typeface="游ゴシック"/>
              </a:rPr>
              <a:t>上位の特徴量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・Humidity3pm: 午後の湿度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・Pressure3pm: 午後の気圧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・Sunshine: 日照時間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・Cloud3pm: 午後の雲量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・RainToday: 本日の雨の有無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5029200" cy="109728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4663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1414"/>
                </a:solidFill>
                <a:latin typeface="Times New Roman"/>
                <a:ea typeface="游ゴシック"/>
              </a:rPr>
              <a:t>気象学的解釈</a:t>
            </a:r>
          </a:p>
          <a:p>
            <a:r>
              <a:rPr sz="1800" b="0">
                <a:solidFill>
                  <a:srgbClr val="323232"/>
                </a:solidFill>
                <a:latin typeface="Times New Roman"/>
                <a:ea typeface="游ゴシック"/>
              </a:rPr>
              <a:t>午後の湿度・気圧・雲量は、翌日の降雨を予測する上で物理的に妥当な指標</a:t>
            </a:r>
          </a:p>
        </p:txBody>
      </p:sp>
      <p:pic>
        <p:nvPicPr>
          <p:cNvPr id="8" name="Picture 7" descr="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1371600"/>
            <a:ext cx="57150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6035040"/>
            <a:ext cx="5715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  <a:latin typeface="Times New Roman"/>
                <a:ea typeface="游ゴシック"/>
              </a:rPr>
              <a:t>特徴量重要度（上位10）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  <a:ea typeface="游ゴシック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414"/>
                </a:solidFill>
                <a:latin typeface="Times New Roman"/>
                <a:ea typeface="游ゴシック"/>
              </a:rPr>
              <a:t>本研究の成果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・3種類のモデル（ロジスティック回帰、MLP、Random Forest）を実装・比較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・体系的なハイパーパラメータチューニングを実施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・クラス不均衡に対する適切な対策（重み付き損失関数）を適用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23232"/>
                </a:solidFill>
                <a:latin typeface="Times New Roman"/>
                <a:ea typeface="游ゴシック"/>
              </a:rPr>
              <a:t>・Random ForestがAccuracy 0.843、Precision 0.764で最高性能を達成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10972800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 err="1">
                <a:solidFill>
                  <a:srgbClr val="141414"/>
                </a:solidFill>
                <a:latin typeface="Times New Roman"/>
                <a:ea typeface="游ゴシック"/>
              </a:rPr>
              <a:t>今後の課題</a:t>
            </a:r>
            <a:endParaRPr sz="2400" b="1" dirty="0">
              <a:solidFill>
                <a:srgbClr val="141414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20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勾配ブースティング（LightGBM、XGBoost）の追加検討</a:t>
            </a:r>
            <a:endParaRPr sz="2000" b="0" dirty="0">
              <a:solidFill>
                <a:srgbClr val="323232"/>
              </a:solidFill>
              <a:latin typeface="Times New Roman"/>
              <a:ea typeface="游ゴシック"/>
            </a:endParaRP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323232"/>
                </a:solidFill>
                <a:latin typeface="Times New Roman"/>
                <a:ea typeface="游ゴシック"/>
              </a:rPr>
              <a:t>・</a:t>
            </a:r>
            <a:r>
              <a:rPr sz="2000" b="0" dirty="0" err="1">
                <a:solidFill>
                  <a:srgbClr val="323232"/>
                </a:solidFill>
                <a:latin typeface="Times New Roman"/>
                <a:ea typeface="游ゴシック"/>
              </a:rPr>
              <a:t>Recallを重視したモデル調整（雨の見逃しを減らす</a:t>
            </a:r>
            <a:r>
              <a:rPr sz="2000" b="0" dirty="0">
                <a:solidFill>
                  <a:srgbClr val="323232"/>
                </a:solidFill>
                <a:latin typeface="Times New Roman"/>
                <a:ea typeface="游ゴシック"/>
              </a:rPr>
              <a:t>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832</Words>
  <Application>Microsoft Office PowerPoint</Application>
  <PresentationFormat>ワイド画面</PresentationFormat>
  <Paragraphs>194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游ゴシック</vt:lpstr>
      <vt:lpstr>Arial</vt:lpstr>
      <vt:lpstr>Calibri</vt:lpstr>
      <vt:lpstr>Times New Roman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cent S</cp:lastModifiedBy>
  <cp:revision>2</cp:revision>
  <dcterms:created xsi:type="dcterms:W3CDTF">2013-01-27T09:14:16Z</dcterms:created>
  <dcterms:modified xsi:type="dcterms:W3CDTF">2026-02-01T09:42:27Z</dcterms:modified>
  <cp:category/>
</cp:coreProperties>
</file>